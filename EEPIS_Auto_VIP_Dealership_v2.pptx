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05840" cy="10058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731520"/>
            <a:ext cx="9509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EEPIS MOTORS  |  VIP LUXURY AUTO DEALERSHIP v2.0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FINAL PROJECT PEMROGRAMAN BERORIENTASI OBJEK — 1 D4 IT C</a:t>
            </a:r>
          </a:p>
          <a:p>
            <a:pPr>
              <a:spcBef>
                <a:spcPts val="1400"/>
              </a:spcBef>
              <a:defRPr sz="3400" b="1">
                <a:solidFill>
                  <a:srgbClr val="F8FAFC"/>
                </a:solidFill>
              </a:defRPr>
            </a:pPr>
            <a:r>
              <a:t>Sistem Dealer Terpadu, Portofolio Aset</a:t>
            </a:r>
            <a:br/>
            <a:r>
              <a:t>&amp; Mode Test Drive Interaktif 2D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</a:defRPr>
            </a:pPr>
            <a:r>
              <a:t>Implementasi komprehensif 4 Pilar OOP (Inheritance, Polymorphism, Encapsulation, Abstraction), Interface ITaxable, Custom Exception Handling, serta Simulasi 2D Canvas 60 FPS pada platform enterprise berbasis JavaFX.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1206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7772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TIM PENGEMBANG PROYEK (KELOMPOK 3):</a:t>
            </a:r>
          </a:p>
          <a:p>
            <a:pPr>
              <a:spcBef>
                <a:spcPts val="400"/>
              </a:spcBef>
              <a:defRPr sz="1400" b="1">
                <a:solidFill>
                  <a:srgbClr val="F8FAFC"/>
                </a:solidFill>
              </a:defRPr>
            </a:pPr>
            <a:r>
              <a:t>1. Mustofa Barakbah (NRP: 3125600065)    •    2. Reza Ali Muhammad (NRP: 3125600061)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Departemen Teknik Informatika — Politeknik Elektronika Negeri Surabaya (PENS)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5303520"/>
            <a:ext cx="2743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TECH STACK:</a:t>
            </a:r>
          </a:p>
          <a:p>
            <a:pPr>
              <a:spcBef>
                <a:spcPts val="400"/>
              </a:spcBef>
              <a:defRPr sz="1200" b="1">
                <a:solidFill>
                  <a:srgbClr val="10B981"/>
                </a:solidFill>
              </a:defRPr>
            </a:pPr>
            <a:r>
              <a:t>Java 11 / 25  •  JavaFX 21</a:t>
            </a:r>
            <a:br/>
            <a:r>
              <a:t>FXML + CSS Obsidian</a:t>
            </a:r>
            <a:br/>
            <a:r>
              <a:t>Canvas 2D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[OVERVIEW]  •  Konseptual Enterprise EEPIS Auto 2.0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Arsitektur Sistem &amp; Gambaran Eksekutif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b="1" sz="1300">
                <a:solidFill>
                  <a:srgbClr val="F8FAFC"/>
                </a:solidFill>
              </a:defRPr>
            </a:pPr>
            <a:r>
              <a:t>🚨 Latar Belakang &amp; Keterbatasan Konvensional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Aplikasi dealer mobil umumnya bersifat katalog statis: tanpa validasi kelayakan dana otomatis, tanpa audit pajak terintegrasi, dan minim interaktivitas pengalaman berkendara.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5120640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b="1" sz="1300">
                <a:solidFill>
                  <a:srgbClr val="F8FAFC"/>
                </a:solidFill>
              </a:defRPr>
            </a:pPr>
            <a:r>
              <a:t>💡 Solusi EEPIS Auto 2.0: Wealth Management Terpadu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Mengintegrasikan showroom mobil mewah dengan sistem Customer Tiering otomatis berbasis saldo, portofolio aset garasi dengan grafik visual BarChart, dan proteksi transaksi autodebet.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46320"/>
            <a:ext cx="5120640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b="1" sz="1300">
                <a:solidFill>
                  <a:srgbClr val="F8FAFC"/>
                </a:solidFill>
              </a:defRPr>
            </a:pPr>
            <a:r>
              <a:t>🎮 Interaktivitas Nyata: Mode Test Drive 2D Canvas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Bukan sekadar dialog teks atau suara, pengguna dapat menguji mobil impian secara langsung dalam simulasi 2D 60 FPS multi-lane racing yang dinamis dan berhadiah cashback.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46888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ARSITEKTUR</a:t>
            </a:r>
          </a:p>
          <a:p>
            <a:pPr>
              <a:spcBef>
                <a:spcPts val="200"/>
              </a:spcBef>
              <a:defRPr sz="1800" b="1">
                <a:solidFill>
                  <a:srgbClr val="38BDF8"/>
                </a:solidFill>
              </a:defRPr>
            </a:pPr>
            <a:r>
              <a:t>MVC Terpadu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FXML + Controller +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1645920"/>
            <a:ext cx="265176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PILAR OOP</a:t>
            </a:r>
          </a:p>
          <a:p>
            <a:pPr>
              <a:spcBef>
                <a:spcPts val="200"/>
              </a:spcBef>
              <a:defRPr sz="1800" b="1">
                <a:solidFill>
                  <a:srgbClr val="6366F1"/>
                </a:solidFill>
              </a:defRPr>
            </a:pPr>
            <a:r>
              <a:t>4 Pilar Utuh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+ Interface &amp; Custom Exception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834640"/>
            <a:ext cx="246888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TOTAL MODUL</a:t>
            </a:r>
          </a:p>
          <a:p>
            <a:pPr>
              <a:spcBef>
                <a:spcPts val="200"/>
              </a:spcBef>
              <a:defRPr sz="1800" b="1">
                <a:solidFill>
                  <a:srgbClr val="F59E0B"/>
                </a:solidFill>
              </a:defRPr>
            </a:pPr>
            <a:r>
              <a:t>7 Modul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Showroom s/d VIP Lounge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2834640"/>
            <a:ext cx="265176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SIMULASI GAME</a:t>
            </a:r>
          </a:p>
          <a:p>
            <a:pPr>
              <a:spcBef>
                <a:spcPts val="200"/>
              </a:spcBef>
              <a:defRPr sz="1800" b="1">
                <a:solidFill>
                  <a:srgbClr val="10B981"/>
                </a:solidFill>
              </a:defRPr>
            </a:pPr>
            <a:r>
              <a:t>60 FPS Canvas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Geometric Physics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023360"/>
            <a:ext cx="530352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b="1" sz="1300">
                <a:solidFill>
                  <a:srgbClr val="F8FAFC"/>
                </a:solidFill>
              </a:defRPr>
            </a:pPr>
            <a:r>
              <a:t>✨ 7 Modul Interaktif Dalam Satu Kendali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1. Katalog Showroom (Real-time Filter &amp; Stream API)</a:t>
            </a:r>
            <a:br/>
            <a:r>
              <a:t>2. Dasbor Portofolio Aset (Wealth Management &amp; BarChart)</a:t>
            </a:r>
            <a:br/>
            <a:r>
              <a:t>3. Pusat Servis Berkala Resmi (Audit Saldo Enkapsulasi)</a:t>
            </a:r>
            <a:br/>
            <a:r>
              <a:t>4. Modul Pajak &amp; Asuransi (Kontrak ITaxable PPN 11%)</a:t>
            </a:r>
            <a:br/>
            <a:r>
              <a:t>5. Trade-In Mobil (Kalkulasi Depresiasi Pasar 30%)</a:t>
            </a:r>
            <a:br/>
            <a:r>
              <a:t>6. Log Riwayat Finansial (Audit Trail Lengkap)</a:t>
            </a:r>
            <a:br/>
            <a:r>
              <a:t>7. VIP Privilege Lounge (Klaim Bonus Harian Eksklusif Tier)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[PILAR OOP 1]  •  Fondasi Hierarki Kelas &amp; Kontrak Sistem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Abstraction &amp; Inheritance (Pewarisan Kelas)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b="1" sz="1300">
                <a:solidFill>
                  <a:srgbClr val="F8FAFC"/>
                </a:solidFill>
              </a:defRPr>
            </a:pPr>
            <a:r>
              <a:t>🔒 Abstraction: Mencegah Instansiasi Prematur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Kelas User, Customer, dan Vehicle dideklarasikan sebagai abstract class. Objek tidak boleh dibuat secara instan tanpa identitas spesifik bisnis (apakah mobil bensin/listrik atau tier pelanggan tertentu).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5029200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b="1" sz="1300">
                <a:solidFill>
                  <a:srgbClr val="F8FAFC"/>
                </a:solidFill>
              </a:defRPr>
            </a:pPr>
            <a:r>
              <a:t>🌲 Hierarki Inheritance 1: Customer Tiering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User (Superclass Identitas)</a:t>
            </a:r>
            <a:br/>
            <a:r>
              <a:t> └── Customer (Abstract: saldo, garasi, logika beli)</a:t>
            </a:r>
            <a:br/>
            <a:r>
              <a:t>      ├── RegularCustomer (Standard Tier)</a:t>
            </a:r>
            <a:br/>
            <a:r>
              <a:t>      ├── SilverCustomer (VIP: Diskon 5%)</a:t>
            </a:r>
            <a:br/>
            <a:r>
              <a:t>      └── GoldCustomer (VVIP: Diskon 8% + Cashback 2%)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37760"/>
            <a:ext cx="502920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b="1" sz="1300">
                <a:solidFill>
                  <a:srgbClr val="F8FAFC"/>
                </a:solidFill>
              </a:defRPr>
            </a:pPr>
            <a:r>
              <a:t>🏎️ Hierarki Inheritance 2: Vehicle Polymorphic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Vehicle (Abstract: brand, price, stock, implements ITaxable)</a:t>
            </a:r>
            <a:br/>
            <a:r>
              <a:t> ├── ElectricCar (EV: kapasitas baterai kWh &amp; jarak tempuh)</a:t>
            </a:r>
            <a:br/>
            <a:r>
              <a:t> └── GasCar (Konvensional: kapasitas mesin cc &amp; transmisi)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645920"/>
            <a:ext cx="539496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54864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● ● ●   ☕ Vehicle.java &amp; ElectricCar.java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993392"/>
            <a:ext cx="5394960" cy="4315968"/>
          </a:xfrm>
          <a:prstGeom prst="rect">
            <a:avLst/>
          </a:prstGeom>
          <a:solidFill>
            <a:srgbClr val="060B1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950" i="1">
                <a:solidFill>
                  <a:srgbClr val="64748B"/>
                </a:solidFill>
                <a:latin typeface="Consolas"/>
              </a:defRPr>
            </a:pPr>
            <a:r>
              <a:t>// 1. Base Abstract Class dengan kontrak baku</a:t>
            </a:r>
          </a:p>
          <a:p>
            <a:pPr>
              <a:defRPr sz="950">
                <a:solidFill>
                  <a:srgbClr val="818CF8"/>
                </a:solidFill>
                <a:latin typeface="Consolas"/>
              </a:defRPr>
            </a:pPr>
            <a:r>
              <a:t>public abstract class Vehicle implements ITaxable {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protected String brand, model, color;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protected double price;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protected int stock;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818CF8"/>
                </a:solidFill>
                <a:latin typeface="Consolas"/>
              </a:defRPr>
            </a:pPr>
            <a:r>
              <a:t>    public Vehicle(String b, String m, double p, int s, String c) {</a:t>
            </a:r>
          </a:p>
          <a:p>
            <a:pPr>
              <a:defRPr sz="950">
                <a:solidFill>
                  <a:srgbClr val="818CF8"/>
                </a:solidFill>
                <a:latin typeface="Consolas"/>
              </a:defRPr>
            </a:pPr>
            <a:r>
              <a:t>        this.brand = b; this.model = m; </a:t>
            </a:r>
          </a:p>
          <a:p>
            <a:pPr>
              <a:defRPr sz="950">
                <a:solidFill>
                  <a:srgbClr val="818CF8"/>
                </a:solidFill>
                <a:latin typeface="Consolas"/>
              </a:defRPr>
            </a:pPr>
            <a:r>
              <a:t>        this.price = p; this.stock = s; this.color = c;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950" i="1">
                <a:solidFill>
                  <a:srgbClr val="64748B"/>
                </a:solidFill>
                <a:latin typeface="Consolas"/>
              </a:defRPr>
            </a:pPr>
            <a:r>
              <a:t>    // Method Abstrak: Wajib dioverride subclass</a:t>
            </a:r>
          </a:p>
          <a:p>
            <a:pPr>
              <a:defRPr sz="950">
                <a:solidFill>
                  <a:srgbClr val="818CF8"/>
                </a:solidFill>
                <a:latin typeface="Consolas"/>
              </a:defRPr>
            </a:pPr>
            <a:r>
              <a:t>    public abstract String testDrive();</a:t>
            </a:r>
          </a:p>
          <a:p>
            <a:pPr>
              <a:defRPr sz="950">
                <a:solidFill>
                  <a:srgbClr val="818CF8"/>
                </a:solidFill>
                <a:latin typeface="Consolas"/>
              </a:defRPr>
            </a:pPr>
            <a:r>
              <a:t>    public abstract String getSpecs();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950" i="1">
                <a:solidFill>
                  <a:srgbClr val="64748B"/>
                </a:solidFill>
                <a:latin typeface="Consolas"/>
              </a:defRPr>
            </a:pPr>
            <a:r>
              <a:t>// 2. Subclass Konkret Mewarisi Vehicle</a:t>
            </a:r>
          </a:p>
          <a:p>
            <a:pPr>
              <a:defRPr sz="950">
                <a:solidFill>
                  <a:srgbClr val="818CF8"/>
                </a:solidFill>
                <a:latin typeface="Consolas"/>
              </a:defRPr>
            </a:pPr>
            <a:r>
              <a:t>public class ElectricCar extends Vehicle {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private int batteryCapacity, range;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950" b="1">
                <a:solidFill>
                  <a:srgbClr val="F43F5E"/>
                </a:solidFill>
                <a:latin typeface="Consolas"/>
              </a:defRPr>
            </a:pPr>
            <a:r>
              <a:t>    @Override</a:t>
            </a:r>
          </a:p>
          <a:p>
            <a:pPr>
              <a:defRPr sz="950">
                <a:solidFill>
                  <a:srgbClr val="818CF8"/>
                </a:solidFill>
                <a:latin typeface="Consolas"/>
              </a:defRPr>
            </a:pPr>
            <a:r>
              <a:t>    public String testDrive() {</a:t>
            </a:r>
          </a:p>
          <a:p>
            <a:pPr>
              <a:defRPr sz="950">
                <a:solidFill>
                  <a:srgbClr val="818CF8"/>
                </a:solidFill>
                <a:latin typeface="Consolas"/>
              </a:defRPr>
            </a:pPr>
            <a:r>
              <a:t>        return "⚡ Zzzzz... Melaju senyap bertenaga EV!";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[PILAR OOP 2]  •  Satu Interface, Beragam Perilaku Spesifik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Polymorphism (Dynamic Method Dispatch)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b="1" sz="1300">
                <a:solidFill>
                  <a:srgbClr val="F8FAFC"/>
                </a:solidFill>
              </a:defRPr>
            </a:pPr>
            <a:r>
              <a:t>🎭 Dynamic Dispatch Saat Runtime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Polimorfisme memungkinkan pemanggilan method yang seragam pada tipe referensi induk (Customer atau Vehicle), namun mengeksekusi logika spesifik milik kelas turunan nyata saat aplikasi berjalan.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5029200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b="1" sz="1300">
                <a:solidFill>
                  <a:srgbClr val="F8FAFC"/>
                </a:solidFill>
              </a:defRPr>
            </a:pPr>
            <a:r>
              <a:t>⚡ Contoh 1: Overriding testDrive()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GasCar menghasilkan: 'VROOOM! Suara mesin 3000cc menderu!'</a:t>
            </a:r>
            <a:br/>
            <a:r>
              <a:t>• ElectricCar menghasilkan: 'Zzzzz... Melaju senyap bertenaga EV.'</a:t>
            </a:r>
            <a:br/>
            <a:r>
              <a:t>Dipanggil dinamis oleh Controller tanpa percabangan if-else.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37760"/>
            <a:ext cx="502920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b="1" sz="1300">
                <a:solidFill>
                  <a:srgbClr val="F8FAFC"/>
                </a:solidFill>
              </a:defRPr>
            </a:pPr>
            <a:r>
              <a:t>💰 Contoh 2: Overriding calculateDiscount() &amp; applyBonus()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GoldCustomer: Diskon 8% + Cashback Saldo 2% instan</a:t>
            </a:r>
            <a:br/>
            <a:r>
              <a:t>• SilverCustomer: Diskon 5% + Paket Servis Gratis</a:t>
            </a:r>
            <a:br/>
            <a:r>
              <a:t>• RegularCustomer: Diskon 0% (Harga OTR standar)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645920"/>
            <a:ext cx="539496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54864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● ● ●   ☕ PrimaryController.java &amp; GoldCustomer.java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993392"/>
            <a:ext cx="5394960" cy="4315968"/>
          </a:xfrm>
          <a:prstGeom prst="rect">
            <a:avLst/>
          </a:prstGeom>
          <a:solidFill>
            <a:srgbClr val="060B1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950" i="1">
                <a:solidFill>
                  <a:srgbClr val="64748B"/>
                </a:solidFill>
                <a:latin typeface="Consolas"/>
              </a:defRPr>
            </a:pPr>
            <a:r>
              <a:t>// Pemanggilan Polimorfis Seragam di Controller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Vehicle car = showroom.get(idx);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String sound = car.testDrive(); // Polimorfik!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double discount = currentUser.calculateDiscount(car.getPrice());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String bonus = currentUser.applyBonus(finalPrice);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950" i="1">
                <a:solidFill>
                  <a:srgbClr val="64748B"/>
                </a:solidFill>
                <a:latin typeface="Consolas"/>
              </a:defRPr>
            </a:pPr>
            <a:r>
              <a:t>// Implementasi di Subclass GoldCustomer</a:t>
            </a:r>
          </a:p>
          <a:p>
            <a:pPr>
              <a:defRPr sz="950">
                <a:solidFill>
                  <a:srgbClr val="818CF8"/>
                </a:solidFill>
                <a:latin typeface="Consolas"/>
              </a:defRPr>
            </a:pPr>
            <a:r>
              <a:t>public class GoldCustomer extends Customer {</a:t>
            </a:r>
          </a:p>
          <a:p>
            <a:pPr>
              <a:defRPr sz="950" b="1">
                <a:solidFill>
                  <a:srgbClr val="F43F5E"/>
                </a:solidFill>
                <a:latin typeface="Consolas"/>
              </a:defRPr>
            </a:pPr>
            <a:r>
              <a:t>    @Override</a:t>
            </a:r>
          </a:p>
          <a:p>
            <a:pPr>
              <a:defRPr sz="950">
                <a:solidFill>
                  <a:srgbClr val="818CF8"/>
                </a:solidFill>
                <a:latin typeface="Consolas"/>
              </a:defRPr>
            </a:pPr>
            <a:r>
              <a:t>    public double calculateDiscount(double price) {</a:t>
            </a:r>
          </a:p>
          <a:p>
            <a:pPr>
              <a:defRPr sz="950">
                <a:solidFill>
                  <a:srgbClr val="818CF8"/>
                </a:solidFill>
                <a:latin typeface="Consolas"/>
              </a:defRPr>
            </a:pPr>
            <a:r>
              <a:t>        return price * 0.08; // Diskon 8%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950" b="1">
                <a:solidFill>
                  <a:srgbClr val="F43F5E"/>
                </a:solidFill>
                <a:latin typeface="Consolas"/>
              </a:defRPr>
            </a:pPr>
            <a:r>
              <a:t>    @Override</a:t>
            </a:r>
          </a:p>
          <a:p>
            <a:pPr>
              <a:defRPr sz="950">
                <a:solidFill>
                  <a:srgbClr val="818CF8"/>
                </a:solidFill>
                <a:latin typeface="Consolas"/>
              </a:defRPr>
            </a:pPr>
            <a:r>
              <a:t>    public String applyBonus(double finalPrice) {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double cashback = finalPrice * 0.02;</a:t>
            </a:r>
          </a:p>
          <a:p>
            <a:pPr>
              <a:defRPr sz="950">
                <a:solidFill>
                  <a:srgbClr val="818CF8"/>
                </a:solidFill>
                <a:latin typeface="Consolas"/>
              </a:defRPr>
            </a:pPr>
            <a:r>
              <a:t>        this.bankBalance += cashback; // Refund saldo</a:t>
            </a:r>
          </a:p>
          <a:p>
            <a:pPr>
              <a:defRPr sz="950">
                <a:solidFill>
                  <a:srgbClr val="818CF8"/>
                </a:solidFill>
                <a:latin typeface="Consolas"/>
              </a:defRPr>
            </a:pPr>
            <a:r>
              <a:t>        return "Cashback Saldo Rp " + 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   String.format("%,.0f", cashback);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[PILAR OOP 3]  •  Proteksi Mutasi Saldo &amp; Garasi Terkontrol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Encapsulation &amp; Integritas Data Finansial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b="1" sz="1300">
                <a:solidFill>
                  <a:srgbClr val="F8FAFC"/>
                </a:solidFill>
              </a:defRPr>
            </a:pPr>
            <a:r>
              <a:t>🛡️ Proteksi Atribut Kritis (Data Hiding)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Variabel penting seperti bankBalance dideklarasikan dengan modifier protected/private. Variabel ini tidak dapat dimanipulasi secara acak dari luar kelas, melainkan hanya via transaksi resmi berintegritas.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5029200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b="1" sz="1300">
                <a:solidFill>
                  <a:srgbClr val="F8FAFC"/>
                </a:solidFill>
              </a:defRPr>
            </a:pPr>
            <a:r>
              <a:t>⚙️ Alur Transaksi Atomik Terenkapsulasi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Method buyVehicle() menjalankan validasi berlapis:</a:t>
            </a:r>
            <a:br/>
            <a:r>
              <a:t>1. Cek ketersediaan stok fisik unit</a:t>
            </a:r>
            <a:br/>
            <a:r>
              <a:t>2. Hitung diskon tier &amp; beban PPN 11%</a:t>
            </a:r>
            <a:br/>
            <a:r>
              <a:t>3. Validasi kecukupan saldo rekening</a:t>
            </a:r>
            <a:br/>
            <a:r>
              <a:t>4. Autodebet saldo &amp; transfer unit ke garasi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37760"/>
            <a:ext cx="502920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b="1" sz="1300">
                <a:solidFill>
                  <a:srgbClr val="F8FAFC"/>
                </a:solidFill>
              </a:defRPr>
            </a:pPr>
            <a:r>
              <a:t>📋 Mutasi Resmi Lainnya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prosesServis(): Memotong Rp 2.500.000 secara terenkapsulasi.</a:t>
            </a:r>
            <a:br/>
            <a:r>
              <a:t>• prosesTradeIn(): Mengkreditkan dana penjualan 70% kembali ke saldo pelanggan.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645920"/>
            <a:ext cx="539496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54864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● ● ●   ☕ Customer.java — buyVehicle()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993392"/>
            <a:ext cx="5394960" cy="4315968"/>
          </a:xfrm>
          <a:prstGeom prst="rect">
            <a:avLst/>
          </a:prstGeom>
          <a:solidFill>
            <a:srgbClr val="060B1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950">
                <a:solidFill>
                  <a:srgbClr val="818CF8"/>
                </a:solidFill>
                <a:latin typeface="Consolas"/>
              </a:defRPr>
            </a:pPr>
            <a:r>
              <a:t>public String buyVehicle(Vehicle vehicle) 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throws DealershipException {</a:t>
            </a:r>
          </a:p>
          <a:p>
            <a:pPr>
              <a:defRPr sz="950" i="1">
                <a:solidFill>
                  <a:srgbClr val="64748B"/>
                </a:solidFill>
                <a:latin typeface="Consolas"/>
              </a:defRPr>
            </a:pPr>
            <a:r>
              <a:t>    // 1. Validasi stok unit</a:t>
            </a:r>
          </a:p>
          <a:p>
            <a:pPr>
              <a:defRPr sz="950">
                <a:solidFill>
                  <a:srgbClr val="818CF8"/>
                </a:solidFill>
                <a:latin typeface="Consolas"/>
              </a:defRPr>
            </a:pPr>
            <a:r>
              <a:t>    if (vehicle.getStock() &lt;= 0) {</a:t>
            </a:r>
          </a:p>
          <a:p>
            <a:pPr>
              <a:defRPr sz="950">
                <a:solidFill>
                  <a:srgbClr val="818CF8"/>
                </a:solidFill>
                <a:latin typeface="Consolas"/>
              </a:defRPr>
            </a:pPr>
            <a:r>
              <a:t>        throw new DealershipException("Stok Habis!");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double discount = calculateDiscount(vehicle.getPrice());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double finalPrice = (vehicle.getPrice() - discount) 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          + vehicle.calculateTax(vehicle.getPrice());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950" i="1">
                <a:solidFill>
                  <a:srgbClr val="64748B"/>
                </a:solidFill>
                <a:latin typeface="Consolas"/>
              </a:defRPr>
            </a:pPr>
            <a:r>
              <a:t>    // 2. Validasi kecukupan dana pelanggan</a:t>
            </a:r>
          </a:p>
          <a:p>
            <a:pPr>
              <a:defRPr sz="950">
                <a:solidFill>
                  <a:srgbClr val="818CF8"/>
                </a:solidFill>
                <a:latin typeface="Consolas"/>
              </a:defRPr>
            </a:pPr>
            <a:r>
              <a:t>    if (this.bankBalance &lt; finalPrice) {</a:t>
            </a:r>
          </a:p>
          <a:p>
            <a:pPr>
              <a:defRPr sz="950">
                <a:solidFill>
                  <a:srgbClr val="818CF8"/>
                </a:solidFill>
                <a:latin typeface="Consolas"/>
              </a:defRPr>
            </a:pPr>
            <a:r>
              <a:t>        throw new DealershipException("Saldo Kurang! " +</a:t>
            </a:r>
          </a:p>
          <a:p>
            <a:pPr>
              <a:defRPr sz="950">
                <a:solidFill>
                  <a:srgbClr val="818CF8"/>
                </a:solidFill>
                <a:latin typeface="Consolas"/>
              </a:defRPr>
            </a:pPr>
            <a:r>
              <a:t>            "Kekurangan: Rp " + (finalPrice - this.bankBalance));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950" i="1">
                <a:solidFill>
                  <a:srgbClr val="64748B"/>
                </a:solidFill>
                <a:latin typeface="Consolas"/>
              </a:defRPr>
            </a:pPr>
            <a:r>
              <a:t>    // 3. Mutasi saldo internal (Encapsulation)</a:t>
            </a:r>
          </a:p>
          <a:p>
            <a:pPr>
              <a:defRPr sz="950">
                <a:solidFill>
                  <a:srgbClr val="818CF8"/>
                </a:solidFill>
                <a:latin typeface="Consolas"/>
              </a:defRPr>
            </a:pPr>
            <a:r>
              <a:t>    this.bankBalance -= finalPrice;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vehicle.decreaseStock();</a:t>
            </a:r>
          </a:p>
          <a:p>
            <a:pPr>
              <a:defRPr sz="950">
                <a:solidFill>
                  <a:srgbClr val="818CF8"/>
                </a:solidFill>
                <a:latin typeface="Consolas"/>
              </a:defRPr>
            </a:pPr>
            <a:r>
              <a:t>    this.garage.add(vehicle);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818CF8"/>
                </a:solidFill>
                <a:latin typeface="Consolas"/>
              </a:defRPr>
            </a:pPr>
            <a:r>
              <a:t>    return TransactionReceipt.generateReceipt(this, vehicle...);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[PILAR OOP 4]  •  Kontrak Baku Perpajakan &amp; Ketahanan Sistem (Robustness)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Interface ITaxable &amp; Custom Exception Handling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2194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b="1" sz="1300">
                <a:solidFill>
                  <a:srgbClr val="F8FAFC"/>
                </a:solidFill>
              </a:defRPr>
            </a:pPr>
            <a:r>
              <a:t>📜 Interface ITaxable: Kontrak Beban Pajak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Interface mendefinisikan kontrak hukum perpajakan yang wajib diimplementasikan oleh seluruh kelas kendaraan.</a:t>
            </a:r>
            <a:br/>
            <a:br/>
            <a:r>
              <a:t>public interface ITaxable {</a:t>
            </a:r>
            <a:br/>
            <a:r>
              <a:t>    double calculateTax(double priceAfterDiscount);</a:t>
            </a:r>
            <a:br/>
            <a:r>
              <a:t>    double getTaxRate(); // 11% PPN Standar</a:t>
            </a:r>
            <a:br/>
            <a:r>
              <a:t>}</a:t>
            </a:r>
            <a:br/>
            <a:br/>
            <a:r>
              <a:t>Setiap unit kendaraan otomatis memiliki method kalkulasi pajak tanpa menduplikasi logika kode.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02920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b="1" sz="1300">
                <a:solidFill>
                  <a:srgbClr val="F8FAFC"/>
                </a:solidFill>
              </a:defRPr>
            </a:pPr>
            <a:r>
              <a:t>⚠️ Custom Exception: DealershipException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Membangun kelas mandiri turunan java.lang.Exception untuk menangkap anomali bisnis (stok kosong atau saldo tidak mencukupi).</a:t>
            </a:r>
            <a:br/>
            <a:br/>
            <a:r>
              <a:t>public class DealershipException extends Exception {</a:t>
            </a:r>
            <a:br/>
            <a:r>
              <a:t>    public DealershipException(String message) {</a:t>
            </a:r>
            <a:br/>
            <a:r>
              <a:t>        super(message);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645920"/>
            <a:ext cx="539496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54864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● ● ●   ☕ PrimaryController.java — Exception Handling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993392"/>
            <a:ext cx="5394960" cy="4315968"/>
          </a:xfrm>
          <a:prstGeom prst="rect">
            <a:avLst/>
          </a:prstGeom>
          <a:solidFill>
            <a:srgbClr val="060B1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950" i="1">
                <a:solidFill>
                  <a:srgbClr val="64748B"/>
                </a:solidFill>
                <a:latin typeface="Consolas"/>
              </a:defRPr>
            </a:pPr>
            <a:r>
              <a:t>// Penanganan Try-Catch di PrimaryController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showModalAnimasi("Memproses Pembelian...", () -&gt; {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try {</a:t>
            </a:r>
          </a:p>
          <a:p>
            <a:pPr>
              <a:defRPr sz="950" i="1">
                <a:solidFill>
                  <a:srgbClr val="64748B"/>
                </a:solidFill>
                <a:latin typeface="Consolas"/>
              </a:defRPr>
            </a:pPr>
            <a:r>
              <a:t>        // Eksekusi method yang melempar Exception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String receipt = currentUser.buyVehicle(car);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transactionHistory.add(0, "BELI: " + car.getModel());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updateSemuaData();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txtReceiptContent.setText(receipt);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receiptBox.setVisible(true);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} catch (DealershipException ex) {</a:t>
            </a:r>
          </a:p>
          <a:p>
            <a:pPr>
              <a:defRPr sz="950" i="1">
                <a:solidFill>
                  <a:srgbClr val="64748B"/>
                </a:solidFill>
                <a:latin typeface="Consolas"/>
              </a:defRPr>
            </a:pPr>
            <a:r>
              <a:t>        // Tangkap Exception: Aplikasi tetap aman tanpa crash!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closeModal();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</a:t>
            </a:r>
          </a:p>
          <a:p>
            <a:pPr>
              <a:defRPr sz="950" i="1">
                <a:solidFill>
                  <a:srgbClr val="64748B"/>
                </a:solidFill>
                <a:latin typeface="Consolas"/>
              </a:defRPr>
            </a:pPr>
            <a:r>
              <a:t>        // Render notifikasi Toast Merah elegan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showToast("Transaksi Ditolak: " + ex.getMessage(), true);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});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[INOVASI UTAMA]  •  Game Engine Interaktif Menggunakan JavaFX GraphicsContext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Simulasi Test Drive 2D Canvas Game (60 FPS)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b="1" sz="1300">
                <a:solidFill>
                  <a:srgbClr val="F8FAFC"/>
                </a:solidFill>
              </a:defRPr>
            </a:pPr>
            <a:r>
              <a:t>🎮 Dari Teks Statis Menjadi Game Kemudi Nyata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Menggantikan animasi dialog sederhana dengan mini-game racing 2D interaktif berbasis Canvas dan AnimationTimer. Pengguna mengendalikan mobil di jalan raya 3 jalur.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5029200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b="1" sz="1300">
                <a:solidFill>
                  <a:srgbClr val="F8FAFC"/>
                </a:solidFill>
              </a:defRPr>
            </a:pPr>
            <a:r>
              <a:t>⚡ Fisika Berbeda: EV vs Gas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ElectricCar (EV): Torsi instan tinggi, akselerasi awal lebih cepat, efek partikel glow biru.</a:t>
            </a:r>
            <a:br/>
            <a:r>
              <a:t>• GasCar (Bensin): Kecepatan bertahap, efek asap knalpot menderu, top speed tinggi.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37760"/>
            <a:ext cx="502920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b="1" sz="1300">
                <a:solidFill>
                  <a:srgbClr val="F8FAFC"/>
                </a:solidFill>
              </a:defRPr>
            </a:pPr>
            <a:r>
              <a:t>🕹️ Mekanisme Permainan &amp; Reward Finansial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Kontrol: Tombol [←] [→] atau [A] [D]</a:t>
            </a:r>
            <a:br/>
            <a:r>
              <a:t>• 3 Nyawa (● ● ●), rintangan mobil berwarna, koin emas</a:t>
            </a:r>
            <a:br/>
            <a:r>
              <a:t>• Reward nyata: Koin menambah saldo rekening pembeli!</a:t>
            </a:r>
          </a:p>
        </p:txBody>
      </p:sp>
      <p:pic>
        <p:nvPicPr>
          <p:cNvPr id="8" name="Picture 7" descr="1_gameplay_test_dr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3931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5669280"/>
            <a:ext cx="521208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b="1" sz="1300">
                <a:solidFill>
                  <a:srgbClr val="F8FAFC"/>
                </a:solidFill>
              </a:defRPr>
            </a:pPr>
            <a:r>
              <a:t>🏆 60 FPS Canvas Engine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Full geometric rendering bebas glitch font emoji. Dilengkapi Speedometer km/h.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[DEMONSTRASI UI]  •  Pencarian Real-Time Stream API &amp; Scoring Game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Katalog Showroom &amp; Hasil Test Drive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_showroom_mod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3291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120640"/>
            <a:ext cx="512064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b="1" sz="1300">
                <a:solidFill>
                  <a:srgbClr val="F8FAFC"/>
                </a:solidFill>
              </a:defRPr>
            </a:pPr>
            <a:r>
              <a:t>🏎️ Katalog Showroom Pintar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Java Stream API filtering instan berdasarkan teks &amp; combobox</a:t>
            </a:r>
            <a:br/>
            <a:r>
              <a:t>• Badge EV / GAS, stok unit, diskon tier, dan beban PPN otomatis</a:t>
            </a:r>
            <a:br/>
            <a:r>
              <a:t>• Tombol 'Test Drive' &amp; 'Beli Unit' responsif</a:t>
            </a:r>
          </a:p>
        </p:txBody>
      </p:sp>
      <p:pic>
        <p:nvPicPr>
          <p:cNvPr id="7" name="Picture 6" descr="3_hasil_test_dr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3291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5120640"/>
            <a:ext cx="521208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b="1" sz="1300">
                <a:solidFill>
                  <a:srgbClr val="F8FAFC"/>
                </a:solidFill>
              </a:defRPr>
            </a:pPr>
            <a:r>
              <a:t>🏆 Kartu Hasil Test Drive &amp; Polimorfisme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Menampilkan skor akhir, jarak tempuh, dan gelar ranking driver</a:t>
            </a:r>
            <a:br/>
            <a:r>
              <a:t>• Menampilkan output polimorfik testDrive() suara kendaraan</a:t>
            </a:r>
            <a:br/>
            <a:r>
              <a:t>• Tombol 'Play Again' atau 'Tutup' langsung ke showroom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[DEMONSTRASI UI]  •  Wealth Management &amp; Visualisasi Grafik BarChart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Dasbor Portofolio Aset &amp; Garasi Pelanggan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4_dasbor_porto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035040" cy="3931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669280"/>
            <a:ext cx="6035040" cy="731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b="1" sz="1300">
                <a:solidFill>
                  <a:srgbClr val="F8FAFC"/>
                </a:solidFill>
              </a:defRPr>
            </a:pPr>
            <a:r>
              <a:t>📊 Wealth Management Real-Time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Membaca data langsung dari memori garasi Customer dan menghitung nilai portofolio.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645920"/>
            <a:ext cx="210312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TOTAL UNIT</a:t>
            </a:r>
          </a:p>
          <a:p>
            <a:pPr>
              <a:spcBef>
                <a:spcPts val="200"/>
              </a:spcBef>
              <a:defRPr sz="1800" b="1">
                <a:solidFill>
                  <a:srgbClr val="F8FAFC"/>
                </a:solidFill>
              </a:defRPr>
            </a:pPr>
            <a:r>
              <a:t>2 Unit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Di garasi klien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1645920"/>
            <a:ext cx="210312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NILAI ASET</a:t>
            </a:r>
          </a:p>
          <a:p>
            <a:pPr>
              <a:spcBef>
                <a:spcPts val="200"/>
              </a:spcBef>
              <a:defRPr sz="1800" b="1">
                <a:solidFill>
                  <a:srgbClr val="10B981"/>
                </a:solidFill>
              </a:defRPr>
            </a:pPr>
            <a:r>
              <a:t>Rp 4,8 M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Akumulasi nilai pasar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2834640"/>
            <a:ext cx="4389120" cy="3566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b="1" sz="1300">
                <a:solidFill>
                  <a:srgbClr val="F8FAFC"/>
                </a:solidFill>
              </a:defRPr>
            </a:pPr>
            <a:r>
              <a:t>📈 Visualisasi BarChart &amp; Sertifikat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BarChart JavaFX Terbaca Sempurna:</a:t>
            </a:r>
            <a:br/>
            <a:r>
              <a:t>  Menampilkan grafik nilai aset per model mobil (Juta Rp) dengan gradient emerald styling.</a:t>
            </a:r>
            <a:br/>
            <a:br/>
            <a:r>
              <a:t>• Sertifikat Kepemilikan (Garasi):</a:t>
            </a:r>
            <a:br/>
            <a:r>
              <a:t>  Setiap mobil yang dibeli tercatat dengan stempel resmi LUNAS, nomor registrasi kepemilikan unik (#01, #02), rincian spesifikasi teknis, serta beban PPN.</a:t>
            </a:r>
            <a:br/>
            <a:br/>
            <a:r>
              <a:t>• Animasi Transisi Halus:</a:t>
            </a:r>
            <a:br/>
            <a:r>
              <a:t>  FadeTransition staggered saat beralih ke halaman portofolio.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[DEMONSTRASI UI]  •  Ekosistem Purna Jual &amp; Transaksi Terverifikasi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Pusat Servis, Kalkulasi Pajak &amp; Faktur Transaksi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5_serv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3291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120640"/>
            <a:ext cx="512064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b="1" sz="1300">
                <a:solidFill>
                  <a:srgbClr val="F8FAFC"/>
                </a:solidFill>
              </a:defRPr>
            </a:pPr>
            <a:r>
              <a:t>🔧 Pusat Servis Berkala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Pemeliharaan mesin resmi Rp 2.500.000</a:t>
            </a:r>
            <a:br/>
            <a:r>
              <a:t>• Memotong bankBalance secara aman via Encapsulation</a:t>
            </a:r>
            <a:br/>
            <a:r>
              <a:t>• Tercatat langsung di log riwayat transaksi</a:t>
            </a:r>
          </a:p>
        </p:txBody>
      </p:sp>
      <p:pic>
        <p:nvPicPr>
          <p:cNvPr id="7" name="Picture 6" descr="pptx_slide_11_pic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3291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5120640"/>
            <a:ext cx="521208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b="1" sz="1300">
                <a:solidFill>
                  <a:srgbClr val="F8FAFC"/>
                </a:solidFill>
              </a:defRPr>
            </a:pPr>
            <a:r>
              <a:t>🧾 Faktur Transaksi &amp; Kalkulasi PPN 11%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Rincian pembelian: Harga OTR, diskon tier, dan PPN 11%</a:t>
            </a:r>
            <a:br/>
            <a:r>
              <a:t>• Hadiah bonus eksklusif (Cashback Saldo &amp; Asuransi)</a:t>
            </a:r>
            <a:br/>
            <a:r>
              <a:t>• Data audit trail dicetak secara terstruktur dan profesional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[PEMETAAN SISTEM]  •  Struktur Kelas, Hubungan Inheritance, Realization &amp; Aggregation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UML Class Diagram &amp; Relasi Antar Objek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b="1" sz="1300">
                <a:solidFill>
                  <a:srgbClr val="F8FAFC"/>
                </a:solidFill>
              </a:defRPr>
            </a:pPr>
            <a:r>
              <a:t>👤 Hierarki Customer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«abstract» User</a:t>
            </a:r>
            <a:br/>
            <a:r>
              <a:t>  - id: String</a:t>
            </a:r>
            <a:br/>
            <a:r>
              <a:t>  - name: String</a:t>
            </a:r>
            <a:br/>
            <a:r>
              <a:t>  + displayProfile(): void</a:t>
            </a:r>
            <a:br/>
            <a:r>
              <a:t>          ▲</a:t>
            </a:r>
            <a:br/>
            <a:r>
              <a:t>          │ (Inheritance)</a:t>
            </a:r>
            <a:br/>
            <a:r>
              <a:t>«abstract» Customer</a:t>
            </a:r>
            <a:br/>
            <a:r>
              <a:t>  # bankBalance: double</a:t>
            </a:r>
            <a:br/>
            <a:r>
              <a:t>  + garage: List&lt;Vehicle&gt;</a:t>
            </a:r>
            <a:br/>
            <a:r>
              <a:t>  + buyVehicle(v): String</a:t>
            </a:r>
            <a:br/>
            <a:r>
              <a:t>  + calculateDiscount(p)*</a:t>
            </a:r>
            <a:br/>
            <a:r>
              <a:t>  + applyBonus(fp)*</a:t>
            </a:r>
            <a:br/>
            <a:r>
              <a:t>          ▲</a:t>
            </a:r>
            <a:br/>
            <a:r>
              <a:t>   ┌──────┼──────┐</a:t>
            </a:r>
            <a:br/>
            <a:r>
              <a:t>Regular  Silver   Gold</a:t>
            </a:r>
            <a:br/>
            <a:r>
              <a:t>(0%)     (5%)     (8%+2%)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566160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b="1" sz="1300">
                <a:solidFill>
                  <a:srgbClr val="F8FAFC"/>
                </a:solidFill>
              </a:defRPr>
            </a:pPr>
            <a:r>
              <a:t>🎮 PrimaryController</a:t>
            </a:r>
            <a:br/>
            <a:r>
              <a:t>(Aggregate Root)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Hubungan Sistem:</a:t>
            </a:r>
            <a:br/>
            <a:r>
              <a:t>• Mengelola sesi Customer aktif</a:t>
            </a:r>
            <a:br/>
            <a:r>
              <a:t>• Mengelola koleksi showroom (List&lt;Vehicle&gt;)</a:t>
            </a:r>
            <a:br/>
            <a:r>
              <a:t>• Mengorkestrasi 7 modul FXML</a:t>
            </a:r>
            <a:br/>
            <a:r>
              <a:t>• Menjalankan Game Engine Canvas 2D</a:t>
            </a:r>
            <a:br/>
            <a:br/>
            <a:r>
              <a:t>       ─── Agregasi ───&gt;</a:t>
            </a:r>
            <a:br/>
            <a:r>
              <a:t>Customer memiliki List&lt;Vehicle&gt; garage</a:t>
            </a:r>
            <a:br/>
            <a:br/>
            <a:r>
              <a:t>Exception Handling:</a:t>
            </a:r>
            <a:br/>
            <a:r>
              <a:t>• Menangkap DealershipException</a:t>
            </a:r>
            <a:br/>
            <a:r>
              <a:t>• Merender Toast &amp; Modal Faktur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645920"/>
            <a:ext cx="3291840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b="1" sz="1300">
                <a:solidFill>
                  <a:srgbClr val="F8FAFC"/>
                </a:solidFill>
              </a:defRPr>
            </a:pPr>
            <a:r>
              <a:t>🏎️ Hierarki Vehicle &amp; Tax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«interface» ITaxable</a:t>
            </a:r>
            <a:br/>
            <a:r>
              <a:t>  + calculateTax(p): double</a:t>
            </a:r>
            <a:br/>
            <a:r>
              <a:t>  + getTaxRate(): double</a:t>
            </a:r>
            <a:br/>
            <a:r>
              <a:t>          ▲</a:t>
            </a:r>
            <a:br/>
            <a:r>
              <a:t>          ┊ (Realization)</a:t>
            </a:r>
            <a:br/>
            <a:r>
              <a:t>«abstract» Vehicle</a:t>
            </a:r>
            <a:br/>
            <a:r>
              <a:t>  # brand, model, color: String</a:t>
            </a:r>
            <a:br/>
            <a:r>
              <a:t>  # price: double</a:t>
            </a:r>
            <a:br/>
            <a:r>
              <a:t>  # stock: int</a:t>
            </a:r>
            <a:br/>
            <a:r>
              <a:t>  + testDrive()*: String</a:t>
            </a:r>
            <a:br/>
            <a:r>
              <a:t>  + getSpecs()*: String</a:t>
            </a:r>
            <a:br/>
            <a:r>
              <a:t>          ▲</a:t>
            </a:r>
            <a:br/>
            <a:r>
              <a:t>     ┌────┴────┐</a:t>
            </a:r>
            <a:br/>
            <a:r>
              <a:t>  GasCar   ElectricCar</a:t>
            </a:r>
            <a:br/>
            <a:r>
              <a:t>  (cc, AT)  (kWh, km)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EEPIS MOTORS — VIP DEALERSHIP SYSTEM v2.0</a:t>
            </a:r>
          </a:p>
          <a:p>
            <a:pPr>
              <a:spcBef>
                <a:spcPts val="800"/>
              </a:spcBef>
              <a:defRPr sz="3200" b="1">
                <a:solidFill>
                  <a:srgbClr val="F8FAFC"/>
                </a:solidFill>
              </a:defRPr>
            </a:pPr>
            <a:r>
              <a:t>Kesimpulan &amp; Pembuktian Pilar OOP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✅ Modular &amp; Scalable: Penerapan Abstraction dan Inheritance memungkinkan penambahan tipe mobil atau tier baru tanpa merusak kode lama.</a:t>
            </a:r>
            <a:br/>
            <a:br/>
            <a:r>
              <a:t>✅ Integritas Data Terjamin: Encapsulation menjaga saldo bank dan status inventaris unit garasi dari manipulasi ilegal.</a:t>
            </a:r>
            <a:br/>
            <a:br/>
            <a:r>
              <a:t>✅ Fleksibel &amp; Dinamis: Polymorphism dan Interface ITaxable menyatukan perhitungan pajak dan pengalaman test drive lintas entitas.</a:t>
            </a:r>
            <a:br/>
            <a:br/>
            <a:r>
              <a:t>✅ Robustness: Custom DealershipException menjamin aplikasi tahan terhadap error tanpa pernah crash di hadapan pengguna.</a:t>
            </a:r>
            <a:br/>
            <a:br/>
            <a:r>
              <a:t>✅ Engaging &amp; Modern: Simulasi 2D Canvas Game dan UI Obsidian membuktikan JavaFX mampu menyajikan pengalaman aplikasi setara standar industri global.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303520"/>
            <a:ext cx="94484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t>Terima Kasih atas Perhatian Bapak/Ibu Dosen Penguji</a:t>
            </a:r>
          </a:p>
          <a:p>
            <a:pPr>
              <a:spcBef>
                <a:spcPts val="400"/>
              </a:spcBef>
              <a:defRPr sz="1300">
                <a:solidFill>
                  <a:srgbClr val="38BDF8"/>
                </a:solidFill>
              </a:defRPr>
            </a:pPr>
            <a:r>
              <a:t>Kelompok 3 (1 D4 IT C) — Sesi Tanya Jawab Dibuka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